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74" r:id="rId5"/>
    <p:sldId id="12211" r:id="rId6"/>
    <p:sldId id="12212" r:id="rId7"/>
    <p:sldId id="12213" r:id="rId8"/>
    <p:sldId id="12214" r:id="rId9"/>
    <p:sldId id="12215" r:id="rId10"/>
    <p:sldId id="12216" r:id="rId11"/>
    <p:sldId id="1219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2" userDrawn="1">
          <p15:clr>
            <a:srgbClr val="A4A3A4"/>
          </p15:clr>
        </p15:guide>
        <p15:guide id="2" pos="1560" userDrawn="1">
          <p15:clr>
            <a:srgbClr val="A4A3A4"/>
          </p15:clr>
        </p15:guide>
        <p15:guide id="3" pos="4680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  <p15:guide id="5" orient="horz" pos="2880" userDrawn="1">
          <p15:clr>
            <a:srgbClr val="A4A3A4"/>
          </p15:clr>
        </p15:guide>
        <p15:guide id="6" pos="7128" userDrawn="1">
          <p15:clr>
            <a:srgbClr val="A4A3A4"/>
          </p15:clr>
        </p15:guide>
        <p15:guide id="7" orient="horz" pos="1728" userDrawn="1">
          <p15:clr>
            <a:srgbClr val="A4A3A4"/>
          </p15:clr>
        </p15:guide>
        <p15:guide id="8" pos="27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495B249-AAF6-05C6-8CDF-8DDC91BF6B77}" name="Laura Smith" initials="" userId="S::lsmith@brightsign.biz::ddac5a99-27bc-45a6-b61c-9f97c13e41f0" providerId="AD"/>
  <p188:author id="{B179F779-E889-00D9-BA13-11DFDEB14F44}" name="Joshua deVries" initials="" userId="S::jdevries@brightsign.biz::b319d590-d4c0-49e6-95ca-1f59470564ad" providerId="AD"/>
  <p188:author id="{E2540186-DFDA-7E9C-2250-8D6E76FDE419}" name="Sue Sargent" initials="SS" userId="S::ssargent@racepointglobal.com::4221b0cb-49ea-4bef-b1ca-67a021802e31" providerId="AD"/>
  <p188:author id="{8C693388-6D15-0F52-44BB-A04D59BECE89}" name="Connie Chan" initials="CC" userId="S::cchan@brightsign.biz::500bcbb7-ec5c-4146-af26-1ce125eb618d" providerId="AD"/>
  <p188:author id="{9DC6E2D9-896E-9FA8-1D46-7999F831CBCF}" name="Brian Rowley" initials="BR" userId="S::browley@brightsign.biz::d1973d02-2d69-4374-bc95-bd36e83100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C1C"/>
    <a:srgbClr val="701896"/>
    <a:srgbClr val="311C6B"/>
    <a:srgbClr val="49C0FF"/>
    <a:srgbClr val="450F5D"/>
    <a:srgbClr val="ECECEC"/>
    <a:srgbClr val="43CB13"/>
    <a:srgbClr val="6D0566"/>
    <a:srgbClr val="360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795"/>
  </p:normalViewPr>
  <p:slideViewPr>
    <p:cSldViewPr snapToGrid="0">
      <p:cViewPr varScale="1">
        <p:scale>
          <a:sx n="120" d="100"/>
          <a:sy n="120" d="100"/>
        </p:scale>
        <p:origin x="680" y="352"/>
      </p:cViewPr>
      <p:guideLst>
        <p:guide orient="horz" pos="2352"/>
        <p:guide pos="1560"/>
        <p:guide pos="4680"/>
        <p:guide orient="horz" pos="1872"/>
        <p:guide orient="horz" pos="2880"/>
        <p:guide pos="7128"/>
        <p:guide orient="horz" pos="1728"/>
        <p:guide pos="273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D3614-1F89-8F48-875B-732C94000D96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B1587-7B2F-E444-B334-6CF9F594E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5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B1587-7B2F-E444-B334-6CF9F594EE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20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ith her arms out&#10;&#10;Description automatically generated">
            <a:extLst>
              <a:ext uri="{FF2B5EF4-FFF2-40B4-BE49-F238E27FC236}">
                <a16:creationId xmlns:a16="http://schemas.microsoft.com/office/drawing/2014/main" id="{7748D7DF-6018-9EDC-024F-60900CF1371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655" y="-2"/>
            <a:ext cx="12318935" cy="6858001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23D80D-5FEB-DC8C-80BF-A57DD0C277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1500" y="952500"/>
            <a:ext cx="5384800" cy="4472940"/>
          </a:xfrm>
        </p:spPr>
        <p:txBody>
          <a:bodyPr anchor="ctr">
            <a:normAutofit/>
          </a:bodyPr>
          <a:lstStyle>
            <a:lvl1pPr marL="0" indent="0">
              <a:lnSpc>
                <a:spcPct val="78000"/>
              </a:lnSpc>
              <a:spcBef>
                <a:spcPts val="0"/>
              </a:spcBef>
              <a:buNone/>
              <a:defRPr sz="54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Presentation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4265FC1-FDA9-2F5A-1BB5-4AAAD2E8CD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006" y="5101835"/>
            <a:ext cx="4090243" cy="54610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8F303020-DB49-FF61-4234-84CECD223E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1991" y="491996"/>
            <a:ext cx="1951212" cy="62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471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-lond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cube with a map on it&#10;&#10;Description automatically generated">
            <a:extLst>
              <a:ext uri="{FF2B5EF4-FFF2-40B4-BE49-F238E27FC236}">
                <a16:creationId xmlns:a16="http://schemas.microsoft.com/office/drawing/2014/main" id="{1B65EDE9-8B94-EF78-A445-E6E36676F399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350" y="0"/>
            <a:ext cx="12198096" cy="6858000"/>
          </a:xfrm>
          <a:prstGeom prst="rect">
            <a:avLst/>
          </a:prstGeom>
        </p:spPr>
      </p:pic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FEDEA34-AC83-BD69-C591-6E586F37AE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991" y="552748"/>
            <a:ext cx="1951212" cy="42116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23D80D-5FEB-DC8C-80BF-A57DD0C277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1500" y="952500"/>
            <a:ext cx="5384800" cy="4472940"/>
          </a:xfrm>
        </p:spPr>
        <p:txBody>
          <a:bodyPr anchor="ctr">
            <a:normAutofit/>
          </a:bodyPr>
          <a:lstStyle>
            <a:lvl1pPr marL="0" indent="0">
              <a:lnSpc>
                <a:spcPct val="78000"/>
              </a:lnSpc>
              <a:spcBef>
                <a:spcPts val="0"/>
              </a:spcBef>
              <a:buNone/>
              <a:defRPr sz="54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Presentation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4265FC1-FDA9-2F5A-1BB5-4AAAD2E8CD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006" y="5101835"/>
            <a:ext cx="4090243" cy="54610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1DF2DDA-BC87-94E8-9E11-6CD729D9275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1991" y="552748"/>
            <a:ext cx="1951212" cy="62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252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lare-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light in the sky&#10;&#10;Description automatically generated with medium confidence">
            <a:extLst>
              <a:ext uri="{FF2B5EF4-FFF2-40B4-BE49-F238E27FC236}">
                <a16:creationId xmlns:a16="http://schemas.microsoft.com/office/drawing/2014/main" id="{4C0B77B2-B8D1-93C4-B1DC-A838A0A2B6A9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3480" y="0"/>
            <a:ext cx="12205480" cy="6872990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204E1E4-A326-B142-59FE-E0C26694C3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60410" y="3942081"/>
            <a:ext cx="3744913" cy="697582"/>
          </a:xfrm>
        </p:spPr>
        <p:txBody>
          <a:bodyPr>
            <a:normAutofit/>
          </a:bodyPr>
          <a:lstStyle>
            <a:lvl1pPr marL="0" indent="0">
              <a:lnSpc>
                <a:spcPct val="200000"/>
              </a:lnSpc>
              <a:buFontTx/>
              <a:buNone/>
              <a:defRPr sz="1200" b="0" i="0" spc="800" baseline="0">
                <a:solidFill>
                  <a:schemeClr val="bg1"/>
                </a:solidFill>
                <a:latin typeface="Montserrat" pitchFamily="2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 HERE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FF31AC39-04D8-C4A7-65F9-75109B7D9C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98455" y="2133600"/>
            <a:ext cx="3840162" cy="1788160"/>
          </a:xfrm>
        </p:spPr>
        <p:txBody>
          <a:bodyPr anchor="b">
            <a:noAutofit/>
          </a:bodyPr>
          <a:lstStyle>
            <a:lvl1pPr marL="0" indent="0">
              <a:lnSpc>
                <a:spcPct val="78000"/>
              </a:lnSpc>
              <a:buFontTx/>
              <a:buNone/>
              <a:defRPr sz="54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Section title slide</a:t>
            </a:r>
          </a:p>
        </p:txBody>
      </p:sp>
    </p:spTree>
    <p:extLst>
      <p:ext uri="{BB962C8B-B14F-4D97-AF65-F5344CB8AC3E}">
        <p14:creationId xmlns:p14="http://schemas.microsoft.com/office/powerpoint/2010/main" val="3153980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lare-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urple and pink light streaks&#10;&#10;Description automatically generated">
            <a:extLst>
              <a:ext uri="{FF2B5EF4-FFF2-40B4-BE49-F238E27FC236}">
                <a16:creationId xmlns:a16="http://schemas.microsoft.com/office/drawing/2014/main" id="{6042967C-8158-5519-A91F-480691C9A663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654" y="-2"/>
            <a:ext cx="12207240" cy="6858001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DB3D80F-5E2D-3D89-C5CD-6E443D21FA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60410" y="2960018"/>
            <a:ext cx="3744913" cy="2041525"/>
          </a:xfrm>
        </p:spPr>
        <p:txBody>
          <a:bodyPr>
            <a:normAutofit/>
          </a:bodyPr>
          <a:lstStyle>
            <a:lvl1pPr marL="0" indent="0">
              <a:lnSpc>
                <a:spcPct val="200000"/>
              </a:lnSpc>
              <a:buFontTx/>
              <a:buNone/>
              <a:defRPr sz="1200" b="0" i="0" spc="800" baseline="0">
                <a:solidFill>
                  <a:schemeClr val="bg1"/>
                </a:solidFill>
                <a:latin typeface="Montserrat" pitchFamily="2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SESSION ONE</a:t>
            </a:r>
          </a:p>
          <a:p>
            <a:pPr lvl="0"/>
            <a:r>
              <a:rPr lang="en-US"/>
              <a:t>SESSION TWO</a:t>
            </a:r>
          </a:p>
          <a:p>
            <a:pPr lvl="0"/>
            <a:r>
              <a:rPr lang="en-US"/>
              <a:t>SESSION THREE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BB190A-0F7A-C5B8-F2C6-47771BABE2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98455" y="1893218"/>
            <a:ext cx="3840162" cy="1046480"/>
          </a:xfrm>
        </p:spPr>
        <p:txBody>
          <a:bodyPr anchor="b">
            <a:noAutofit/>
          </a:bodyPr>
          <a:lstStyle>
            <a:lvl1pPr marL="0" indent="0">
              <a:lnSpc>
                <a:spcPct val="78000"/>
              </a:lnSpc>
              <a:buFontTx/>
              <a:buNone/>
              <a:defRPr sz="54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462330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rple-viole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and white background&#10;&#10;Description automatically generated">
            <a:extLst>
              <a:ext uri="{FF2B5EF4-FFF2-40B4-BE49-F238E27FC236}">
                <a16:creationId xmlns:a16="http://schemas.microsoft.com/office/drawing/2014/main" id="{5EB6FE90-043C-30AF-9B73-E373618D5BB3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20" y="-1"/>
            <a:ext cx="12198096" cy="6858000"/>
          </a:xfrm>
          <a:prstGeom prst="rect">
            <a:avLst/>
          </a:prstGeom>
        </p:spPr>
      </p:pic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4039198-4AD6-5F3A-6017-2AD372A2AF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15" y="6382836"/>
            <a:ext cx="847273" cy="18288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4DF101C-33DA-1320-CBD8-E0F47946F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B0A7558-3594-0E1F-EBEB-D2BA22E32B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8360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C8876E-3841-F164-EBD2-1CB6466C10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7990" y="1430797"/>
            <a:ext cx="3852318" cy="524612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F0D2945-C0F1-8DE9-3186-3B0B90B46E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7990" y="2067556"/>
            <a:ext cx="4485364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79534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iolet-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white background&#10;&#10;Description automatically generated">
            <a:extLst>
              <a:ext uri="{FF2B5EF4-FFF2-40B4-BE49-F238E27FC236}">
                <a16:creationId xmlns:a16="http://schemas.microsoft.com/office/drawing/2014/main" id="{24AC7A80-0538-F046-9AE2-7E9270C72EF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22" y="-1"/>
            <a:ext cx="12198096" cy="6858000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5254CD4-8FFE-FC21-19AA-F3777EF13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3D80632-3ED0-518F-289A-D3C1CBADA7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15" y="6382836"/>
            <a:ext cx="847273" cy="182880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0ABDD11-96E7-0CD4-3B51-B81B13C123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822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0F970C8-4B2A-4D8A-950C-5A2899A238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7990" y="1430796"/>
            <a:ext cx="3669438" cy="63675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642CA91-5C41-3B48-F128-D68B663DAE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7990" y="2067556"/>
            <a:ext cx="4485364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9848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iolet-purple-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blue gradient&#10;&#10;Description automatically generated">
            <a:extLst>
              <a:ext uri="{FF2B5EF4-FFF2-40B4-BE49-F238E27FC236}">
                <a16:creationId xmlns:a16="http://schemas.microsoft.com/office/drawing/2014/main" id="{9394BB62-CD7B-4151-D2DB-03CB70439F8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36" y="0"/>
            <a:ext cx="12198096" cy="6858000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5EA7796-AAD4-95D0-9D27-188821026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1D0A0D8-D6E0-C2F1-67A3-89E956F40C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15" y="6382836"/>
            <a:ext cx="847273" cy="182880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5BC3278-8017-CF4B-63B6-12761724B3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9196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97B20E4-7531-381A-913A-2B4FBF21E1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7990" y="1430796"/>
            <a:ext cx="3922656" cy="63675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0B8EB00-AF46-1399-1256-6AA66EBF84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7990" y="2067556"/>
            <a:ext cx="4485364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6802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iolet-purple-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blue gradient&#10;&#10;Description automatically generated">
            <a:extLst>
              <a:ext uri="{FF2B5EF4-FFF2-40B4-BE49-F238E27FC236}">
                <a16:creationId xmlns:a16="http://schemas.microsoft.com/office/drawing/2014/main" id="{AA39AD79-2608-DAE2-B354-29B62182A76B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27" y="-1"/>
            <a:ext cx="12198096" cy="6858000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834D7-2CE1-F49C-6AFB-D917E8249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37783B8-E781-3F8B-0E7F-4FB4070E92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15" y="6382836"/>
            <a:ext cx="847273" cy="18288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76F8C7-6945-22E0-B06E-EC35A4A97E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8311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1AA9DCC-D1F0-2A18-BD93-4A17939837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7990" y="1430796"/>
            <a:ext cx="3402152" cy="63675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408B3AD-98E5-579E-F192-6708BEAB1D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7990" y="2067556"/>
            <a:ext cx="4485364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4274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header-w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ardrop 18">
            <a:extLst>
              <a:ext uri="{FF2B5EF4-FFF2-40B4-BE49-F238E27FC236}">
                <a16:creationId xmlns:a16="http://schemas.microsoft.com/office/drawing/2014/main" id="{71F23503-1929-2A92-CB08-44A123B93FF0}"/>
              </a:ext>
            </a:extLst>
          </p:cNvPr>
          <p:cNvSpPr/>
          <p:nvPr userDrawn="1"/>
        </p:nvSpPr>
        <p:spPr>
          <a:xfrm>
            <a:off x="-3040114" y="-120118"/>
            <a:ext cx="8073232" cy="8083755"/>
          </a:xfrm>
          <a:prstGeom prst="teardrop">
            <a:avLst/>
          </a:prstGeom>
          <a:gradFill flip="none" rotWithShape="1">
            <a:gsLst>
              <a:gs pos="54000">
                <a:srgbClr val="49C0FF"/>
              </a:gs>
              <a:gs pos="86000">
                <a:srgbClr val="701896"/>
              </a:gs>
              <a:gs pos="22000">
                <a:srgbClr val="311C6B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A16A3C4A-9470-B337-BC72-34874358BE23}"/>
              </a:ext>
            </a:extLst>
          </p:cNvPr>
          <p:cNvSpPr/>
          <p:nvPr userDrawn="1"/>
        </p:nvSpPr>
        <p:spPr>
          <a:xfrm>
            <a:off x="-3187345" y="-579920"/>
            <a:ext cx="8073232" cy="8083755"/>
          </a:xfrm>
          <a:prstGeom prst="teardrop">
            <a:avLst/>
          </a:prstGeom>
          <a:gradFill>
            <a:gsLst>
              <a:gs pos="91000">
                <a:srgbClr val="49C0FF"/>
              </a:gs>
              <a:gs pos="58000">
                <a:srgbClr val="701896"/>
              </a:gs>
              <a:gs pos="13000">
                <a:srgbClr val="311C6B"/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3C72C4A-5743-87A7-EE89-101DBCC2C7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15" y="6382836"/>
            <a:ext cx="847273" cy="1828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719A2F-5FC7-F123-CCA5-67F9DF4A5D56}"/>
              </a:ext>
            </a:extLst>
          </p:cNvPr>
          <p:cNvSpPr/>
          <p:nvPr userDrawn="1"/>
        </p:nvSpPr>
        <p:spPr>
          <a:xfrm flipH="1">
            <a:off x="-3457864" y="-538273"/>
            <a:ext cx="3283789" cy="8532974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638E267-0D0A-849D-6E95-0C1DCC54A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11C6B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B7EC9E-B68C-9973-7DDF-7C26767E2EE1}"/>
              </a:ext>
            </a:extLst>
          </p:cNvPr>
          <p:cNvSpPr/>
          <p:nvPr userDrawn="1"/>
        </p:nvSpPr>
        <p:spPr>
          <a:xfrm flipH="1">
            <a:off x="-1503337" y="-953141"/>
            <a:ext cx="6812815" cy="95314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DE416F-9353-6D98-7F67-1D0146037CF7}"/>
              </a:ext>
            </a:extLst>
          </p:cNvPr>
          <p:cNvSpPr/>
          <p:nvPr userDrawn="1"/>
        </p:nvSpPr>
        <p:spPr>
          <a:xfrm flipH="1">
            <a:off x="-1503338" y="6889000"/>
            <a:ext cx="6812815" cy="1105701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82FC4CE-5F73-2109-165B-FB5CDEC60A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244" y="3830571"/>
            <a:ext cx="3744913" cy="507256"/>
          </a:xfrm>
        </p:spPr>
        <p:txBody>
          <a:bodyPr>
            <a:normAutofit/>
          </a:bodyPr>
          <a:lstStyle>
            <a:lvl1pPr marL="0" indent="0">
              <a:lnSpc>
                <a:spcPct val="200000"/>
              </a:lnSpc>
              <a:buFontTx/>
              <a:buNone/>
              <a:defRPr sz="1200" b="0" i="0" spc="800" baseline="0">
                <a:solidFill>
                  <a:schemeClr val="bg1"/>
                </a:solidFill>
                <a:latin typeface="Montserrat" pitchFamily="2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 HERE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B1DF0CC-2BB6-AB7B-4509-04E259CA1B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591" y="2439664"/>
            <a:ext cx="3840162" cy="1482096"/>
          </a:xfrm>
        </p:spPr>
        <p:txBody>
          <a:bodyPr anchor="t">
            <a:noAutofit/>
          </a:bodyPr>
          <a:lstStyle>
            <a:lvl1pPr marL="0" indent="0">
              <a:lnSpc>
                <a:spcPct val="78000"/>
              </a:lnSpc>
              <a:buFontTx/>
              <a:buNone/>
              <a:defRPr sz="54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Header here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3AC02A8-932F-ED21-42E3-21C60976EF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92244" y="1309866"/>
            <a:ext cx="4233173" cy="35668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F69F6CD1-5DA3-F3C3-5ACB-1A216CFC30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92244" y="1646714"/>
            <a:ext cx="4485364" cy="584004"/>
          </a:xfrm>
        </p:spPr>
        <p:txBody>
          <a:bodyPr>
            <a:normAutofit/>
          </a:bodyPr>
          <a:lstStyle>
            <a:lvl1pPr>
              <a:defRPr sz="1200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9496F857-BC05-BDEA-BFB7-46103C7B34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8422" y="1312916"/>
            <a:ext cx="645132" cy="1056028"/>
          </a:xfrm>
        </p:spPr>
        <p:txBody>
          <a:bodyPr anchor="t">
            <a:noAutofit/>
          </a:bodyPr>
          <a:lstStyle>
            <a:lvl1pPr marL="0" indent="0">
              <a:lnSpc>
                <a:spcPct val="78000"/>
              </a:lnSpc>
              <a:buFontTx/>
              <a:buNone/>
              <a:defRPr sz="6000" b="1" i="0">
                <a:solidFill>
                  <a:srgbClr val="701896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E2FCE65-8864-0C89-0C10-E6652983AF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92244" y="2945626"/>
            <a:ext cx="4233173" cy="35668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7E375AA2-D2E2-61DD-B0AD-99ECD9CEE8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92244" y="3282474"/>
            <a:ext cx="4485364" cy="584004"/>
          </a:xfrm>
        </p:spPr>
        <p:txBody>
          <a:bodyPr>
            <a:normAutofit/>
          </a:bodyPr>
          <a:lstStyle>
            <a:lvl1pPr>
              <a:defRPr sz="1200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476E580B-77BD-2E2C-1AF8-40AEA8BE94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8422" y="2948676"/>
            <a:ext cx="645132" cy="1056028"/>
          </a:xfrm>
        </p:spPr>
        <p:txBody>
          <a:bodyPr anchor="t">
            <a:noAutofit/>
          </a:bodyPr>
          <a:lstStyle>
            <a:lvl1pPr marL="0" indent="0">
              <a:lnSpc>
                <a:spcPct val="78000"/>
              </a:lnSpc>
              <a:buFontTx/>
              <a:buNone/>
              <a:defRPr sz="6000" b="1" i="0">
                <a:solidFill>
                  <a:srgbClr val="701896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E89A6EFF-A78F-F3B2-EFAC-43B969FAB0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92244" y="4550906"/>
            <a:ext cx="4233173" cy="35668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D2C33AC1-268C-BEF1-62E3-17B5BB7249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92244" y="4887754"/>
            <a:ext cx="4485364" cy="584004"/>
          </a:xfrm>
        </p:spPr>
        <p:txBody>
          <a:bodyPr>
            <a:normAutofit/>
          </a:bodyPr>
          <a:lstStyle>
            <a:lvl1pPr>
              <a:defRPr sz="1200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A8DB4C8E-E826-4AEC-3850-25FDE56A44F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08422" y="4553956"/>
            <a:ext cx="645132" cy="1056028"/>
          </a:xfrm>
        </p:spPr>
        <p:txBody>
          <a:bodyPr anchor="t">
            <a:noAutofit/>
          </a:bodyPr>
          <a:lstStyle>
            <a:lvl1pPr marL="0" indent="0">
              <a:lnSpc>
                <a:spcPct val="78000"/>
              </a:lnSpc>
              <a:buFontTx/>
              <a:buNone/>
              <a:defRPr sz="6000" b="1" i="0">
                <a:solidFill>
                  <a:srgbClr val="701896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0415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header-narrow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ardrop 5">
            <a:extLst>
              <a:ext uri="{FF2B5EF4-FFF2-40B4-BE49-F238E27FC236}">
                <a16:creationId xmlns:a16="http://schemas.microsoft.com/office/drawing/2014/main" id="{41437405-0D5F-0949-BC24-104C77AA80FD}"/>
              </a:ext>
            </a:extLst>
          </p:cNvPr>
          <p:cNvSpPr/>
          <p:nvPr userDrawn="1"/>
        </p:nvSpPr>
        <p:spPr>
          <a:xfrm>
            <a:off x="-4117009" y="-206698"/>
            <a:ext cx="8073232" cy="8083755"/>
          </a:xfrm>
          <a:prstGeom prst="teardrop">
            <a:avLst/>
          </a:prstGeom>
          <a:gradFill flip="none" rotWithShape="1">
            <a:gsLst>
              <a:gs pos="54000">
                <a:srgbClr val="49C0FF"/>
              </a:gs>
              <a:gs pos="86000">
                <a:srgbClr val="701896"/>
              </a:gs>
              <a:gs pos="22000">
                <a:srgbClr val="311C6B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A16A3C4A-9470-B337-BC72-34874358BE23}"/>
              </a:ext>
            </a:extLst>
          </p:cNvPr>
          <p:cNvSpPr/>
          <p:nvPr userDrawn="1"/>
        </p:nvSpPr>
        <p:spPr>
          <a:xfrm>
            <a:off x="-4246137" y="-579920"/>
            <a:ext cx="8073232" cy="8083755"/>
          </a:xfrm>
          <a:prstGeom prst="teardrop">
            <a:avLst/>
          </a:prstGeom>
          <a:gradFill>
            <a:gsLst>
              <a:gs pos="91000">
                <a:srgbClr val="49C0FF"/>
              </a:gs>
              <a:gs pos="58000">
                <a:srgbClr val="701896"/>
              </a:gs>
              <a:gs pos="13000">
                <a:srgbClr val="311C6B"/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3C72C4A-5743-87A7-EE89-101DBCC2C7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15" y="6382836"/>
            <a:ext cx="847273" cy="1828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719A2F-5FC7-F123-CCA5-67F9DF4A5D56}"/>
              </a:ext>
            </a:extLst>
          </p:cNvPr>
          <p:cNvSpPr/>
          <p:nvPr userDrawn="1"/>
        </p:nvSpPr>
        <p:spPr>
          <a:xfrm flipH="1">
            <a:off x="-4278091" y="-538273"/>
            <a:ext cx="4104016" cy="8532974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638E267-0D0A-849D-6E95-0C1DCC54A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11C6B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B7EC9E-B68C-9973-7DDF-7C26767E2EE1}"/>
              </a:ext>
            </a:extLst>
          </p:cNvPr>
          <p:cNvSpPr/>
          <p:nvPr userDrawn="1"/>
        </p:nvSpPr>
        <p:spPr>
          <a:xfrm flipH="1">
            <a:off x="-1503337" y="-953141"/>
            <a:ext cx="6812815" cy="95314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DE416F-9353-6D98-7F67-1D0146037CF7}"/>
              </a:ext>
            </a:extLst>
          </p:cNvPr>
          <p:cNvSpPr/>
          <p:nvPr userDrawn="1"/>
        </p:nvSpPr>
        <p:spPr>
          <a:xfrm flipH="1">
            <a:off x="-1503338" y="6889000"/>
            <a:ext cx="6812815" cy="1105701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C5D35D60-9A35-DE80-FA36-E851583D5F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244" y="3830571"/>
            <a:ext cx="3744913" cy="507256"/>
          </a:xfrm>
        </p:spPr>
        <p:txBody>
          <a:bodyPr>
            <a:normAutofit/>
          </a:bodyPr>
          <a:lstStyle>
            <a:lvl1pPr marL="0" indent="0">
              <a:lnSpc>
                <a:spcPct val="200000"/>
              </a:lnSpc>
              <a:buFontTx/>
              <a:buNone/>
              <a:defRPr sz="1200" b="0" i="0" spc="800" baseline="0">
                <a:solidFill>
                  <a:schemeClr val="bg1"/>
                </a:solidFill>
                <a:latin typeface="Montserrat" pitchFamily="2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 HERE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D244584-AED9-0D67-4680-1455E67148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591" y="2439664"/>
            <a:ext cx="3840162" cy="1482096"/>
          </a:xfrm>
        </p:spPr>
        <p:txBody>
          <a:bodyPr anchor="t">
            <a:noAutofit/>
          </a:bodyPr>
          <a:lstStyle>
            <a:lvl1pPr marL="0" indent="0">
              <a:lnSpc>
                <a:spcPct val="78000"/>
              </a:lnSpc>
              <a:buFontTx/>
              <a:buNone/>
              <a:defRPr sz="54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Header here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C6B1BB9-D812-640B-73F5-D9DF8E8EDB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15476" y="387806"/>
            <a:ext cx="6964461" cy="1011102"/>
          </a:xfrm>
        </p:spPr>
        <p:txBody>
          <a:bodyPr/>
          <a:lstStyle>
            <a:lvl1pPr>
              <a:defRPr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35D4C41-4A28-71B3-45A1-CD8687C51E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5476" y="2431125"/>
            <a:ext cx="3284850" cy="63675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D9229A6-D302-3B8B-7119-4A0B5F3C13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15476" y="3067885"/>
            <a:ext cx="3284850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EF99742F-39DC-3A7C-4F90-092B960F6A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5087" y="2431125"/>
            <a:ext cx="3284850" cy="63675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4F9177C-AD62-A89B-E825-96CB38FF87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95087" y="3067885"/>
            <a:ext cx="3284850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03549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nner-le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letters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EC7AE12C-38C6-49B3-34AE-353AA2F87B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094" y="6382838"/>
            <a:ext cx="848565" cy="18288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638E267-0D0A-849D-6E95-0C1DCC54A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11C6B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ardrop 10">
            <a:extLst>
              <a:ext uri="{FF2B5EF4-FFF2-40B4-BE49-F238E27FC236}">
                <a16:creationId xmlns:a16="http://schemas.microsoft.com/office/drawing/2014/main" id="{5B1CE19B-C128-1441-3B96-7BFD404D6EF1}"/>
              </a:ext>
            </a:extLst>
          </p:cNvPr>
          <p:cNvSpPr/>
          <p:nvPr userDrawn="1"/>
        </p:nvSpPr>
        <p:spPr>
          <a:xfrm>
            <a:off x="-7488977" y="-206698"/>
            <a:ext cx="8073232" cy="8083755"/>
          </a:xfrm>
          <a:prstGeom prst="teardrop">
            <a:avLst/>
          </a:prstGeom>
          <a:gradFill flip="none" rotWithShape="1">
            <a:gsLst>
              <a:gs pos="54000">
                <a:srgbClr val="49C0FF"/>
              </a:gs>
              <a:gs pos="86000">
                <a:srgbClr val="701896"/>
              </a:gs>
              <a:gs pos="22000">
                <a:srgbClr val="311C6B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ardrop 11">
            <a:extLst>
              <a:ext uri="{FF2B5EF4-FFF2-40B4-BE49-F238E27FC236}">
                <a16:creationId xmlns:a16="http://schemas.microsoft.com/office/drawing/2014/main" id="{032AE7E8-6ABB-B0BF-58C3-3F43E5D9894B}"/>
              </a:ext>
            </a:extLst>
          </p:cNvPr>
          <p:cNvSpPr/>
          <p:nvPr userDrawn="1"/>
        </p:nvSpPr>
        <p:spPr>
          <a:xfrm>
            <a:off x="-7618105" y="-579920"/>
            <a:ext cx="8073232" cy="8083755"/>
          </a:xfrm>
          <a:prstGeom prst="teardrop">
            <a:avLst/>
          </a:prstGeom>
          <a:gradFill>
            <a:gsLst>
              <a:gs pos="91000">
                <a:srgbClr val="49C0FF"/>
              </a:gs>
              <a:gs pos="58000">
                <a:srgbClr val="701896"/>
              </a:gs>
              <a:gs pos="13000">
                <a:srgbClr val="311C6B"/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351516-F3DC-F314-1A26-F6AABE999ED0}"/>
              </a:ext>
            </a:extLst>
          </p:cNvPr>
          <p:cNvSpPr/>
          <p:nvPr userDrawn="1"/>
        </p:nvSpPr>
        <p:spPr>
          <a:xfrm flipH="1">
            <a:off x="-8044160" y="-608056"/>
            <a:ext cx="8032599" cy="879995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DD5656-B812-4005-273D-D14F3FC0357E}"/>
              </a:ext>
            </a:extLst>
          </p:cNvPr>
          <p:cNvSpPr/>
          <p:nvPr userDrawn="1"/>
        </p:nvSpPr>
        <p:spPr>
          <a:xfrm flipH="1">
            <a:off x="-264311" y="-1802801"/>
            <a:ext cx="8032599" cy="173525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93F2950-E7A3-4A8B-EDFB-D6C013790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5547" y="387806"/>
            <a:ext cx="8352264" cy="1011102"/>
          </a:xfrm>
        </p:spPr>
        <p:txBody>
          <a:bodyPr/>
          <a:lstStyle>
            <a:lvl1pPr>
              <a:defRPr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26402F7-3642-46B0-7022-587075CB5A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5547" y="1398908"/>
            <a:ext cx="3402152" cy="63675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34D42BE-63B4-3FD6-DA8B-539E38F8F0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5547" y="2035668"/>
            <a:ext cx="4485364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1498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anner-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letters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EC7AE12C-38C6-49B3-34AE-353AA2F87B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094" y="6382838"/>
            <a:ext cx="848565" cy="18288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638E267-0D0A-849D-6E95-0C1DCC54A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11C6B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ardrop 5">
            <a:extLst>
              <a:ext uri="{FF2B5EF4-FFF2-40B4-BE49-F238E27FC236}">
                <a16:creationId xmlns:a16="http://schemas.microsoft.com/office/drawing/2014/main" id="{4BBB0084-BB91-73DE-4007-B76E6B3B06E0}"/>
              </a:ext>
            </a:extLst>
          </p:cNvPr>
          <p:cNvSpPr/>
          <p:nvPr userDrawn="1"/>
        </p:nvSpPr>
        <p:spPr>
          <a:xfrm flipH="1">
            <a:off x="11591707" y="-45029"/>
            <a:ext cx="8073232" cy="8083755"/>
          </a:xfrm>
          <a:prstGeom prst="teardrop">
            <a:avLst/>
          </a:prstGeom>
          <a:gradFill flip="none" rotWithShape="1">
            <a:gsLst>
              <a:gs pos="54000">
                <a:srgbClr val="49C0FF"/>
              </a:gs>
              <a:gs pos="86000">
                <a:srgbClr val="701896"/>
              </a:gs>
              <a:gs pos="22000">
                <a:srgbClr val="311C6B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A1A16DA4-98F6-6AB6-C64A-F34BC0246588}"/>
              </a:ext>
            </a:extLst>
          </p:cNvPr>
          <p:cNvSpPr/>
          <p:nvPr userDrawn="1"/>
        </p:nvSpPr>
        <p:spPr>
          <a:xfrm flipH="1">
            <a:off x="11720835" y="-418251"/>
            <a:ext cx="8073232" cy="8083755"/>
          </a:xfrm>
          <a:prstGeom prst="teardrop">
            <a:avLst/>
          </a:prstGeom>
          <a:gradFill>
            <a:gsLst>
              <a:gs pos="91000">
                <a:srgbClr val="49C0FF"/>
              </a:gs>
              <a:gs pos="58000">
                <a:srgbClr val="701896"/>
              </a:gs>
              <a:gs pos="13000">
                <a:srgbClr val="311C6B"/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33CC70-39BA-6D58-FD38-3D518F485AE5}"/>
              </a:ext>
            </a:extLst>
          </p:cNvPr>
          <p:cNvSpPr/>
          <p:nvPr userDrawn="1"/>
        </p:nvSpPr>
        <p:spPr>
          <a:xfrm flipH="1">
            <a:off x="12232140" y="-442876"/>
            <a:ext cx="8073232" cy="849567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DD5656-B812-4005-273D-D14F3FC0357E}"/>
              </a:ext>
            </a:extLst>
          </p:cNvPr>
          <p:cNvSpPr/>
          <p:nvPr userDrawn="1"/>
        </p:nvSpPr>
        <p:spPr>
          <a:xfrm flipH="1">
            <a:off x="6096000" y="-1762460"/>
            <a:ext cx="8032599" cy="173525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D70CDB4-C03B-D629-3F46-24C7DD70B2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1045639"/>
          </a:xfrm>
        </p:spPr>
        <p:txBody>
          <a:bodyPr/>
          <a:lstStyle>
            <a:lvl1pPr>
              <a:defRPr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83E0164-58CC-A401-641D-1B95049322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7990" y="1430796"/>
            <a:ext cx="3402152" cy="63675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3C02F78-8F1A-B35B-FFAA-30089C71A5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7990" y="2067556"/>
            <a:ext cx="4485364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9751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letters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EC7AE12C-38C6-49B3-34AE-353AA2F87B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094" y="6382838"/>
            <a:ext cx="848565" cy="18288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638E267-0D0A-849D-6E95-0C1DCC54A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11C6B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723A15A-D28A-25EE-A8EC-919D491685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600166"/>
          </a:xfrm>
        </p:spPr>
        <p:txBody>
          <a:bodyPr/>
          <a:lstStyle>
            <a:lvl1pPr>
              <a:defRPr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D8A0629-C7D0-3F1A-E8B0-9D2A21E5DB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7990" y="1430796"/>
            <a:ext cx="3402152" cy="63675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4E811A3-553A-3663-C942-81EDA20AA0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7990" y="2067556"/>
            <a:ext cx="4485364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62733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es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blue gradient&#10;&#10;Description automatically generated">
            <a:extLst>
              <a:ext uri="{FF2B5EF4-FFF2-40B4-BE49-F238E27FC236}">
                <a16:creationId xmlns:a16="http://schemas.microsoft.com/office/drawing/2014/main" id="{9394BB62-CD7B-4151-D2DB-03CB70439F8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36" y="0"/>
            <a:ext cx="12198096" cy="6858000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CD5263F-B4DD-43B0-533E-C4AECA4E75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2973351"/>
            <a:ext cx="12191999" cy="726291"/>
          </a:xfrm>
        </p:spPr>
        <p:txBody>
          <a:bodyPr/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650736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117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807898-88D8-9E56-6603-E93710861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3E16D-91BF-1602-2FC6-C4DF45363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EB2D-D0FD-9EB8-334B-E2D5F4C007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Montserrat" pitchFamily="2" charset="77"/>
              </a:defRPr>
            </a:lvl1pPr>
          </a:lstStyle>
          <a:p>
            <a:fld id="{F3A66BE1-8DFC-434C-9086-43F896F84D17}" type="datetime1">
              <a:rPr lang="en-US" smtClean="0"/>
              <a:pPr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319E6-917E-EC60-3D74-AA05CF6E07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Montserrat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401DC94-A963-1ECA-90E9-1F26D8131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11C6B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023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87" r:id="rId2"/>
    <p:sldLayoutId id="2147483674" r:id="rId3"/>
    <p:sldLayoutId id="2147483675" r:id="rId4"/>
    <p:sldLayoutId id="2147483661" r:id="rId5"/>
    <p:sldLayoutId id="2147483672" r:id="rId6"/>
    <p:sldLayoutId id="2147483680" r:id="rId7"/>
    <p:sldLayoutId id="2147483673" r:id="rId8"/>
    <p:sldLayoutId id="2147483685" r:id="rId9"/>
    <p:sldLayoutId id="2147483686" r:id="rId10"/>
    <p:sldLayoutId id="2147483683" r:id="rId11"/>
    <p:sldLayoutId id="2147483684" r:id="rId12"/>
    <p:sldLayoutId id="2147483679" r:id="rId13"/>
    <p:sldLayoutId id="2147483682" r:id="rId14"/>
    <p:sldLayoutId id="2147483677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9D3D34-2938-3723-B9E4-F7D05ABCE05E}"/>
              </a:ext>
            </a:extLst>
          </p:cNvPr>
          <p:cNvSpPr txBox="1"/>
          <p:nvPr/>
        </p:nvSpPr>
        <p:spPr>
          <a:xfrm>
            <a:off x="615007" y="5418857"/>
            <a:ext cx="3525078" cy="407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 dirty="0">
                <a:solidFill>
                  <a:schemeClr val="bg1"/>
                </a:solidFill>
                <a:latin typeface="Montserrat" pitchFamily="2" charset="77"/>
              </a:rPr>
              <a:t>October 18, 2025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775810-F0A7-029A-31FD-929924DF30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BrightSign</a:t>
            </a:r>
            <a:endParaRPr lang="en-US" dirty="0"/>
          </a:p>
          <a:p>
            <a:r>
              <a:rPr lang="en-US" dirty="0"/>
              <a:t>NPU </a:t>
            </a:r>
          </a:p>
          <a:p>
            <a:r>
              <a:rPr lang="en-US" dirty="0"/>
              <a:t>Platform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C38C49-F3BB-99AB-5A22-D5184E4F52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Greg Herlein	</a:t>
            </a:r>
          </a:p>
        </p:txBody>
      </p:sp>
    </p:spTree>
    <p:extLst>
      <p:ext uri="{BB962C8B-B14F-4D97-AF65-F5344CB8AC3E}">
        <p14:creationId xmlns:p14="http://schemas.microsoft.com/office/powerpoint/2010/main" val="330296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4E607D-B74A-71C7-BF53-1C8B35B76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5E99C1-6FF6-DE4D-86E1-5031F2AE389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29C7E-E146-1711-77C4-B875518226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b="1" dirty="0" err="1"/>
              <a:t>BrightSign</a:t>
            </a:r>
            <a:r>
              <a:rPr lang="en-US" sz="3200" b="1" dirty="0"/>
              <a:t> NPU Platform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68DA5-7A81-63E8-7705-39BD4E43D2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7990" y="1002701"/>
            <a:ext cx="10193993" cy="636759"/>
          </a:xfrm>
        </p:spPr>
        <p:txBody>
          <a:bodyPr>
            <a:normAutofit/>
          </a:bodyPr>
          <a:lstStyle/>
          <a:p>
            <a:r>
              <a:rPr lang="en-US" dirty="0"/>
              <a:t>Next-Generation Edge AI for Digital Signage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38CD03E-65CB-E160-E08E-B8E41E6EA7C7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471899" y="1529732"/>
            <a:ext cx="999521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Three-Tier Platform Architecture: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C1C1C"/>
              </a:solidFill>
              <a:effectLst/>
              <a:latin typeface="Montserra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Premium: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XT5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RK3588 (3-core, 6 TOPS)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3 models parallel – Full behavioral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Mid-tier: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XS156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RK3576 (2-core, 4 TOPS)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2 models parallel – Core engagement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Entry: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LS5/HS5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RK3568 (1-core, 1 TOPS)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1 model – Basic attention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1C1C1C"/>
              </a:solidFill>
              <a:effectLst/>
              <a:latin typeface="Montserra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Key Features: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C1C1C"/>
              </a:solidFill>
              <a:effectLst/>
              <a:latin typeface="Montserra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Fanless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operation, 11-year lifespan (100,000-hour MTBF)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5.5W full AI workload (XT5) – 42–54% less power than competitors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C++ optimized implementation – 3.3x more efficient than Python alternatives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055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099CD-5542-E4C6-0725-6CAF94E24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C46235-D783-B837-27CB-4C1C93759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5E99C1-6FF6-DE4D-86E1-5031F2AE389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E87C8E4-110A-CC41-EF64-EEDCC08395D0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551735" y="1514811"/>
            <a:ext cx="10977655" cy="361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800" b="1" dirty="0">
                <a:solidFill>
                  <a:srgbClr val="002060"/>
                </a:solidFill>
                <a:latin typeface="Montserrat" pitchFamily="2" charset="77"/>
              </a:rPr>
              <a:t>Capabilities:</a:t>
            </a:r>
            <a:endParaRPr lang="en-US" sz="1800" dirty="0">
              <a:solidFill>
                <a:srgbClr val="002060"/>
              </a:solidFill>
              <a:latin typeface="Montserra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People counting &amp; tracking: Movement patterns, traffic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Gaze detection &amp; attention: What content captures attention, duration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Pose estimation (XT5): 17-keypoint skeleton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Shopping behaviors: Cart pushing, basket carrying, shelf interaction, product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Content attribution: Link engagement to specific media assets (</a:t>
            </a:r>
            <a:r>
              <a:rPr lang="en-US" sz="1800" dirty="0" err="1">
                <a:solidFill>
                  <a:srgbClr val="002060"/>
                </a:solidFill>
                <a:latin typeface="Montserrat" pitchFamily="2" charset="77"/>
              </a:rPr>
              <a:t>BSN.cloud</a:t>
            </a: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)</a:t>
            </a:r>
          </a:p>
          <a:p>
            <a:endParaRPr lang="en-US" sz="1800" dirty="0">
              <a:solidFill>
                <a:srgbClr val="002060"/>
              </a:solidFill>
              <a:latin typeface="Montserrat" pitchFamily="2" charset="77"/>
            </a:endParaRPr>
          </a:p>
          <a:p>
            <a:endParaRPr lang="en-US" sz="1800" dirty="0">
              <a:solidFill>
                <a:srgbClr val="002060"/>
              </a:solidFill>
              <a:latin typeface="Montserrat" pitchFamily="2" charset="77"/>
            </a:endParaRPr>
          </a:p>
          <a:p>
            <a:r>
              <a:rPr lang="en-US" sz="1800" b="1" dirty="0">
                <a:solidFill>
                  <a:srgbClr val="002060"/>
                </a:solidFill>
                <a:latin typeface="Montserrat" pitchFamily="2" charset="77"/>
              </a:rPr>
              <a:t>Differentiators:</a:t>
            </a:r>
            <a:endParaRPr lang="en-US" sz="1800" dirty="0">
              <a:solidFill>
                <a:srgbClr val="002060"/>
              </a:solidFill>
              <a:latin typeface="Montserra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Edge-first, privacy-first: All processing on-device, zero PII transmitted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Real-time performance: Millisecond latency vs. seconds for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Dual-purpose hardware: Digital signage + analytics in one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No cloud costs: No bandwidth, no recurring fees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917C4BC-1F31-5453-77E6-842835437F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1045639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BrightShopper</a:t>
            </a:r>
            <a:r>
              <a:rPr lang="en-US" sz="3200" b="1" dirty="0"/>
              <a:t> – Flagship Application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68E5098-2939-7B0C-DFCF-BB2F923DFF7A}"/>
              </a:ext>
            </a:extLst>
          </p:cNvPr>
          <p:cNvSpPr txBox="1">
            <a:spLocks/>
          </p:cNvSpPr>
          <p:nvPr/>
        </p:nvSpPr>
        <p:spPr>
          <a:xfrm>
            <a:off x="367990" y="1002701"/>
            <a:ext cx="10193993" cy="636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Tx/>
              <a:buNone/>
              <a:defRPr sz="2000" b="1" i="0" kern="1200">
                <a:solidFill>
                  <a:srgbClr val="311C6B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FB072D0-A2AB-92AF-531A-38584205229B}"/>
              </a:ext>
            </a:extLst>
          </p:cNvPr>
          <p:cNvSpPr txBox="1">
            <a:spLocks/>
          </p:cNvSpPr>
          <p:nvPr/>
        </p:nvSpPr>
        <p:spPr>
          <a:xfrm>
            <a:off x="367990" y="1002701"/>
            <a:ext cx="10193993" cy="636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Tx/>
              <a:buNone/>
              <a:defRPr sz="2000" b="1" i="0" kern="1200">
                <a:solidFill>
                  <a:srgbClr val="311C6B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Real-Time Retail Analytics at the Edge</a:t>
            </a:r>
          </a:p>
        </p:txBody>
      </p:sp>
    </p:spTree>
    <p:extLst>
      <p:ext uri="{BB962C8B-B14F-4D97-AF65-F5344CB8AC3E}">
        <p14:creationId xmlns:p14="http://schemas.microsoft.com/office/powerpoint/2010/main" val="903070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127BF-B5A9-7835-B662-731639C60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5A6AB1-351F-534F-8FCC-7D32158CC8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5E99C1-6FF6-DE4D-86E1-5031F2AE389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3B354EC-2A2B-0EA1-A40B-55C789BD1A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1045639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Competetive</a:t>
            </a:r>
            <a:r>
              <a:rPr lang="en-US" sz="3200" b="1" dirty="0"/>
              <a:t> Advantages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5890BD6-AF2A-CED5-9B87-F1F008A8A6A6}"/>
              </a:ext>
            </a:extLst>
          </p:cNvPr>
          <p:cNvSpPr txBox="1">
            <a:spLocks/>
          </p:cNvSpPr>
          <p:nvPr/>
        </p:nvSpPr>
        <p:spPr>
          <a:xfrm>
            <a:off x="367990" y="1002701"/>
            <a:ext cx="10193993" cy="636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Tx/>
              <a:buNone/>
              <a:defRPr sz="2000" b="1" i="0" kern="1200">
                <a:solidFill>
                  <a:srgbClr val="311C6B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1B73053-B776-1F59-D6D0-8F3515A2A5A0}"/>
              </a:ext>
            </a:extLst>
          </p:cNvPr>
          <p:cNvSpPr txBox="1">
            <a:spLocks/>
          </p:cNvSpPr>
          <p:nvPr/>
        </p:nvSpPr>
        <p:spPr>
          <a:xfrm>
            <a:off x="367990" y="1002701"/>
            <a:ext cx="10193993" cy="636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Tx/>
              <a:buNone/>
              <a:defRPr sz="2000" b="1" i="0" kern="1200">
                <a:solidFill>
                  <a:srgbClr val="311C6B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Why the </a:t>
            </a:r>
            <a:r>
              <a:rPr lang="en-US" dirty="0" err="1"/>
              <a:t>BrightSign</a:t>
            </a:r>
            <a:r>
              <a:rPr lang="en-US" dirty="0"/>
              <a:t> NPU Platform Wins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D53D4C9-5C22-F295-EDF2-322A2E5A8836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353291" y="1476962"/>
            <a:ext cx="6258097" cy="524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Vs. Cloud-Based Analytics: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Zero latency: Milliseconds vs. seconds for round-trip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Privacy compliance: No video leaves device, no PII collected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100% uptime: Works without internet connectivity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Vs. Python Edge AI Implementations: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3.3x lower power per NPU core: C++ vs. Python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Memory bandwidth: Python saturates NPU at 3 models; C++ enables true parallelism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Production reliability: Compiled binary vs. interpreter dependencies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0"/>
            <a:r>
              <a:rPr lang="en-US" altLang="en-US" sz="1800" b="1" dirty="0">
                <a:solidFill>
                  <a:srgbClr val="000000"/>
                </a:solidFill>
              </a:rPr>
              <a:t>Vs. External NPU Accelerators (Hailo, Coral, etc.):</a:t>
            </a:r>
            <a:endParaRPr lang="en-US" altLang="en-US" sz="1800" dirty="0"/>
          </a:p>
          <a:p>
            <a:pPr lvl="0">
              <a:buFontTx/>
              <a:buChar char="•"/>
            </a:pPr>
            <a:r>
              <a:rPr lang="en-US" altLang="en-US" sz="1800" dirty="0">
                <a:solidFill>
                  <a:srgbClr val="000000"/>
                </a:solidFill>
              </a:rPr>
              <a:t> 1.8x lower total power: No USB/PCIe overhead, native integration</a:t>
            </a:r>
          </a:p>
          <a:p>
            <a:pPr lvl="0">
              <a:buFontTx/>
              <a:buChar char="•"/>
            </a:pPr>
            <a:r>
              <a:rPr lang="en-US" altLang="en-US" sz="1800" dirty="0">
                <a:solidFill>
                  <a:srgbClr val="000000"/>
                </a:solidFill>
              </a:rPr>
              <a:t> Simpler design: PoE-powered single-box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729DC-8F10-BDA6-C3DC-1D3F39D3CFB6}"/>
              </a:ext>
            </a:extLst>
          </p:cNvPr>
          <p:cNvSpPr txBox="1"/>
          <p:nvPr/>
        </p:nvSpPr>
        <p:spPr>
          <a:xfrm>
            <a:off x="6715689" y="1476962"/>
            <a:ext cx="47596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Vs. Dedicated Retail Analytics Cameras: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Lower TCO: No separate camera infrastructure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Content attribution: Automatic linkage of viewer data to displayed media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Key Metrics (XT5):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0.42 TOPS/Watt –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1.5–2.3x better computational efficiency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0.84 R-TOPS/Watt –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7–8x better lifetime computational value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$62K–$100K savings over 5 years per 1,000 units deployed</a:t>
            </a:r>
          </a:p>
        </p:txBody>
      </p:sp>
    </p:spTree>
    <p:extLst>
      <p:ext uri="{BB962C8B-B14F-4D97-AF65-F5344CB8AC3E}">
        <p14:creationId xmlns:p14="http://schemas.microsoft.com/office/powerpoint/2010/main" val="1363981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947BB-5A4F-CFBC-F0D8-8EE07617C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069A24-C58A-0FB1-78F0-6F21D8897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5E99C1-6FF6-DE4D-86E1-5031F2AE389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EA71CF9-6459-D53E-9D95-25B0BF548A78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367990" y="1558094"/>
            <a:ext cx="10977655" cy="5604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800" dirty="0">
                <a:latin typeface="Montserrat" pitchFamily="2" charset="77"/>
              </a:rPr>
              <a:t>Create an "App Store for AI" - enabling third-party developers to build, distribute, and monetize AI/NPU applications for </a:t>
            </a:r>
            <a:r>
              <a:rPr lang="en-US" sz="1800" dirty="0" err="1">
                <a:latin typeface="Montserrat" pitchFamily="2" charset="77"/>
              </a:rPr>
              <a:t>BrightSign's</a:t>
            </a:r>
            <a:r>
              <a:rPr lang="en-US" sz="1800" dirty="0">
                <a:latin typeface="Montserrat" pitchFamily="2" charset="77"/>
              </a:rPr>
              <a:t> growing player ecosystem.</a:t>
            </a:r>
          </a:p>
          <a:p>
            <a:endParaRPr lang="en-US" sz="1800" b="1" dirty="0">
              <a:latin typeface="Montserrat" pitchFamily="2" charset="77"/>
            </a:endParaRPr>
          </a:p>
          <a:p>
            <a:r>
              <a:rPr lang="en-US" sz="1800" b="1" dirty="0">
                <a:latin typeface="Montserrat" pitchFamily="2" charset="77"/>
              </a:rPr>
              <a:t>Market Opportunity</a:t>
            </a:r>
          </a:p>
          <a:p>
            <a:endParaRPr lang="en-US" sz="1800" b="1" dirty="0">
              <a:latin typeface="Montserra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itchFamily="2" charset="77"/>
              </a:rPr>
              <a:t>Growing AI/NPU adoption in digital signage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itchFamily="2" charset="77"/>
              </a:rPr>
              <a:t>Limited AI expertise among customers - need ready-to-use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itchFamily="2" charset="77"/>
              </a:rPr>
              <a:t>Developer ecosystem seeking monetization opportunities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itchFamily="2" charset="77"/>
              </a:rPr>
              <a:t>Recurring revenue potential through platform marketplace</a:t>
            </a:r>
          </a:p>
          <a:p>
            <a:endParaRPr lang="en-US" sz="1800" b="1" dirty="0">
              <a:latin typeface="Montserrat" pitchFamily="2" charset="77"/>
            </a:endParaRPr>
          </a:p>
          <a:p>
            <a:r>
              <a:rPr lang="en-US" sz="1800" b="1" dirty="0">
                <a:latin typeface="Montserrat" pitchFamily="2" charset="77"/>
              </a:rPr>
              <a:t>The Model</a:t>
            </a:r>
          </a:p>
          <a:p>
            <a:endParaRPr lang="en-US" sz="1800" dirty="0">
              <a:latin typeface="Montserra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itchFamily="2" charset="77"/>
              </a:rPr>
              <a:t>Similar to Apple App Store / Google Play Store: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itchFamily="2" charset="77"/>
              </a:rPr>
              <a:t>Partners publish AI applications (BSMPs)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itchFamily="2" charset="77"/>
              </a:rPr>
              <a:t>Customers discover and subscribe via marketplace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Montserrat" pitchFamily="2" charset="77"/>
              </a:rPr>
              <a:t>BrightSign</a:t>
            </a:r>
            <a:r>
              <a:rPr lang="en-US" sz="1800" dirty="0">
                <a:latin typeface="Montserrat" pitchFamily="2" charset="77"/>
              </a:rPr>
              <a:t> manages hosting, billing, and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itchFamily="2" charset="77"/>
              </a:rPr>
              <a:t>Revenue share: </a:t>
            </a:r>
            <a:r>
              <a:rPr lang="en-US" sz="1800" b="1" dirty="0">
                <a:latin typeface="Montserrat" pitchFamily="2" charset="77"/>
              </a:rPr>
              <a:t>70% partner / 30% </a:t>
            </a:r>
            <a:r>
              <a:rPr lang="en-US" sz="1800" b="1" dirty="0" err="1">
                <a:latin typeface="Montserrat" pitchFamily="2" charset="77"/>
              </a:rPr>
              <a:t>BrightSign</a:t>
            </a:r>
            <a:endParaRPr lang="en-US" sz="1800" dirty="0">
              <a:latin typeface="Montserrat" pitchFamily="2" charset="77"/>
            </a:endParaRPr>
          </a:p>
          <a:p>
            <a:br>
              <a:rPr lang="en-US" sz="1800" dirty="0">
                <a:latin typeface="Montserrat" pitchFamily="2" charset="77"/>
              </a:rPr>
            </a:br>
            <a:endParaRPr lang="en-US" sz="1800" dirty="0">
              <a:latin typeface="Montserrat" pitchFamily="2" charset="77"/>
            </a:endParaRPr>
          </a:p>
          <a:p>
            <a:br>
              <a:rPr lang="en-US" sz="1800" dirty="0">
                <a:latin typeface="Montserrat" pitchFamily="2" charset="77"/>
              </a:rPr>
            </a:br>
            <a:endParaRPr lang="en-US" sz="1800" dirty="0">
              <a:latin typeface="Montserra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84E1BED-9D3F-7022-F7D1-6AEDCD1E48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1045639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BrightStore</a:t>
            </a:r>
            <a:r>
              <a:rPr lang="en-US" sz="3200" b="1" dirty="0"/>
              <a:t> – AI/NPU App Store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37ECAAB-D8B1-0C56-EBA0-98550912CF5D}"/>
              </a:ext>
            </a:extLst>
          </p:cNvPr>
          <p:cNvSpPr txBox="1">
            <a:spLocks/>
          </p:cNvSpPr>
          <p:nvPr/>
        </p:nvSpPr>
        <p:spPr>
          <a:xfrm>
            <a:off x="367990" y="1002701"/>
            <a:ext cx="10193993" cy="636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Tx/>
              <a:buNone/>
              <a:defRPr sz="2000" b="1" i="0" kern="1200">
                <a:solidFill>
                  <a:srgbClr val="311C6B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1086A5A-7590-7573-B0BB-93E98639EBE5}"/>
              </a:ext>
            </a:extLst>
          </p:cNvPr>
          <p:cNvSpPr txBox="1">
            <a:spLocks/>
          </p:cNvSpPr>
          <p:nvPr/>
        </p:nvSpPr>
        <p:spPr>
          <a:xfrm>
            <a:off x="367990" y="1002701"/>
            <a:ext cx="10193993" cy="636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Tx/>
              <a:buNone/>
              <a:defRPr sz="2000" b="1" i="0" kern="1200">
                <a:solidFill>
                  <a:srgbClr val="311C6B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AI Application Marketplace for </a:t>
            </a:r>
            <a:r>
              <a:rPr lang="en-US" dirty="0" err="1"/>
              <a:t>BrightSign</a:t>
            </a:r>
            <a:r>
              <a:rPr lang="en-US" dirty="0"/>
              <a:t> Platform</a:t>
            </a:r>
          </a:p>
        </p:txBody>
      </p:sp>
    </p:spTree>
    <p:extLst>
      <p:ext uri="{BB962C8B-B14F-4D97-AF65-F5344CB8AC3E}">
        <p14:creationId xmlns:p14="http://schemas.microsoft.com/office/powerpoint/2010/main" val="156740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D8C11-7F75-E866-D9B1-8A9623069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70C1A5-C670-3C94-A334-1A85DC81B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5E99C1-6FF6-DE4D-86E1-5031F2AE389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A2AF23E-A5A2-ACDE-6BBA-B81867C04B57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445409" y="1223304"/>
            <a:ext cx="10977655" cy="554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br>
              <a:rPr lang="en-US" sz="1800" dirty="0">
                <a:latin typeface="Montserrat" pitchFamily="2" charset="77"/>
              </a:rPr>
            </a:br>
            <a:r>
              <a:rPr lang="en-US" sz="1600" b="1" dirty="0">
                <a:latin typeface="Montserrat" pitchFamily="2" charset="77"/>
              </a:rPr>
              <a:t>For Partner Developers</a:t>
            </a:r>
          </a:p>
          <a:p>
            <a:endParaRPr lang="en-US" sz="1600" dirty="0">
              <a:latin typeface="Montserra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77"/>
              </a:rPr>
              <a:t>Submit AI/NPU applications through partner portal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77"/>
              </a:rPr>
              <a:t>Set pricing: free, one-time, or </a:t>
            </a:r>
            <a:r>
              <a:rPr lang="en-US" sz="1600" b="1" dirty="0">
                <a:latin typeface="Montserrat" pitchFamily="2" charset="77"/>
              </a:rPr>
              <a:t>$X/player/month</a:t>
            </a:r>
            <a:endParaRPr lang="en-US" sz="1600" dirty="0">
              <a:latin typeface="Montserra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77"/>
              </a:rPr>
              <a:t>Receive </a:t>
            </a:r>
            <a:r>
              <a:rPr lang="en-US" sz="1600" b="1" dirty="0">
                <a:latin typeface="Montserrat" pitchFamily="2" charset="77"/>
              </a:rPr>
              <a:t>70% revenue share</a:t>
            </a:r>
            <a:r>
              <a:rPr lang="en-US" sz="1600" dirty="0">
                <a:latin typeface="Montserrat" pitchFamily="2" charset="77"/>
              </a:rPr>
              <a:t> with automated monthly payouts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77"/>
              </a:rPr>
              <a:t>Access analytics on downloads, revenue, and ratings</a:t>
            </a:r>
          </a:p>
          <a:p>
            <a:endParaRPr lang="en-US" sz="1600" b="1" dirty="0">
              <a:latin typeface="Montserrat" pitchFamily="2" charset="77"/>
            </a:endParaRPr>
          </a:p>
          <a:p>
            <a:r>
              <a:rPr lang="en-US" sz="1600" b="1" dirty="0">
                <a:latin typeface="Montserrat" pitchFamily="2" charset="77"/>
              </a:rPr>
              <a:t>For </a:t>
            </a:r>
            <a:r>
              <a:rPr lang="en-US" sz="1600" b="1" dirty="0" err="1">
                <a:latin typeface="Montserrat" pitchFamily="2" charset="77"/>
              </a:rPr>
              <a:t>BrightSign</a:t>
            </a:r>
            <a:r>
              <a:rPr lang="en-US" sz="1600" b="1" dirty="0">
                <a:latin typeface="Montserrat" pitchFamily="2" charset="77"/>
              </a:rPr>
              <a:t> Customers</a:t>
            </a:r>
          </a:p>
          <a:p>
            <a:endParaRPr lang="en-US" sz="1600" dirty="0">
              <a:latin typeface="Montserra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77"/>
              </a:rPr>
              <a:t>Browse curated catalog of AI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77"/>
              </a:rPr>
              <a:t>Try free 30-day trials before purchasing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77"/>
              </a:rPr>
              <a:t>Subscribe and deploy to players in one click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77"/>
              </a:rPr>
              <a:t>Pay only for active installations - per player, per month</a:t>
            </a:r>
          </a:p>
          <a:p>
            <a:endParaRPr lang="en-US" sz="1600" b="1" dirty="0">
              <a:latin typeface="Montserrat" pitchFamily="2" charset="77"/>
            </a:endParaRPr>
          </a:p>
          <a:p>
            <a:r>
              <a:rPr lang="en-US" sz="1600" b="1" dirty="0">
                <a:latin typeface="Montserrat" pitchFamily="2" charset="77"/>
              </a:rPr>
              <a:t>For </a:t>
            </a:r>
            <a:r>
              <a:rPr lang="en-US" sz="1600" b="1" dirty="0" err="1">
                <a:latin typeface="Montserrat" pitchFamily="2" charset="77"/>
              </a:rPr>
              <a:t>BrightSign</a:t>
            </a:r>
            <a:endParaRPr lang="en-US" sz="1600" b="1" dirty="0">
              <a:latin typeface="Montserrat" pitchFamily="2" charset="77"/>
            </a:endParaRPr>
          </a:p>
          <a:p>
            <a:endParaRPr lang="en-US" sz="1600" b="1" dirty="0">
              <a:latin typeface="Montserra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Montserrat" pitchFamily="2" charset="77"/>
              </a:rPr>
              <a:t>30% platform fee</a:t>
            </a:r>
            <a:r>
              <a:rPr lang="en-US" sz="1600" dirty="0">
                <a:latin typeface="Montserrat" pitchFamily="2" charset="77"/>
              </a:rPr>
              <a:t> on all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77"/>
              </a:rPr>
              <a:t>Automated billing and revenue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77"/>
              </a:rPr>
              <a:t>Content review and quality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itchFamily="2" charset="77"/>
              </a:rPr>
              <a:t>Expand platform capabilities without internal development</a:t>
            </a:r>
          </a:p>
          <a:p>
            <a:br>
              <a:rPr lang="en-US" sz="1800" dirty="0">
                <a:latin typeface="Montserrat" pitchFamily="2" charset="77"/>
              </a:rPr>
            </a:br>
            <a:endParaRPr lang="en-US" sz="1800" dirty="0">
              <a:latin typeface="Montserra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87439E-A965-FD16-055F-5B585FCBF0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1045639"/>
          </a:xfrm>
        </p:spPr>
        <p:txBody>
          <a:bodyPr>
            <a:normAutofit/>
          </a:bodyPr>
          <a:lstStyle/>
          <a:p>
            <a:r>
              <a:rPr lang="en-US" b="1" dirty="0"/>
              <a:t>How It Works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C878F1-E0FA-36A3-7DE0-5494DF9A94A8}"/>
              </a:ext>
            </a:extLst>
          </p:cNvPr>
          <p:cNvSpPr txBox="1">
            <a:spLocks/>
          </p:cNvSpPr>
          <p:nvPr/>
        </p:nvSpPr>
        <p:spPr>
          <a:xfrm>
            <a:off x="367990" y="1002701"/>
            <a:ext cx="10193993" cy="636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Tx/>
              <a:buNone/>
              <a:defRPr sz="2000" b="1" i="0" kern="1200">
                <a:solidFill>
                  <a:srgbClr val="311C6B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581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D7E17-770B-EAD8-BB48-A70A70820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C60D34-E5CF-A572-C61E-7E5423BB97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5E99C1-6FF6-DE4D-86E1-5031F2AE389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B6EDEB2-411D-FF69-8D3A-D7B32E4092A9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346517" y="1129709"/>
            <a:ext cx="10977655" cy="3111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800" b="1" dirty="0">
                <a:latin typeface="Montserrat" pitchFamily="2" charset="77"/>
              </a:rPr>
              <a:t>Base Assumptions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itchFamily="2" charset="77"/>
              </a:rPr>
              <a:t>Total </a:t>
            </a:r>
            <a:r>
              <a:rPr lang="en-US" sz="1800" dirty="0" err="1">
                <a:latin typeface="Montserrat" pitchFamily="2" charset="77"/>
              </a:rPr>
              <a:t>BrightSign</a:t>
            </a:r>
            <a:r>
              <a:rPr lang="en-US" sz="1800" dirty="0">
                <a:latin typeface="Montserrat" pitchFamily="2" charset="77"/>
              </a:rPr>
              <a:t> player install base (2026): 400,000 players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Montserrat" pitchFamily="2" charset="77"/>
              </a:rPr>
              <a:t>BrightStore</a:t>
            </a:r>
            <a:r>
              <a:rPr lang="en-US" sz="1800" dirty="0">
                <a:latin typeface="Montserrat" pitchFamily="2" charset="77"/>
              </a:rPr>
              <a:t> adoption rate: 10% (40,000 players)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itchFamily="2" charset="77"/>
              </a:rPr>
              <a:t>Average BSMP price: $4.99/player/month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Montserrat" pitchFamily="2" charset="77"/>
              </a:rPr>
              <a:t>BrightSign</a:t>
            </a:r>
            <a:r>
              <a:rPr lang="en-US" sz="1800" dirty="0">
                <a:latin typeface="Montserrat" pitchFamily="2" charset="77"/>
              </a:rPr>
              <a:t> platform fee: 30%</a:t>
            </a:r>
          </a:p>
          <a:p>
            <a:endParaRPr lang="en-US" sz="1800" dirty="0">
              <a:latin typeface="Montserrat" pitchFamily="2" charset="77"/>
            </a:endParaRPr>
          </a:p>
          <a:p>
            <a:endParaRPr lang="en-US" sz="1800" dirty="0">
              <a:latin typeface="Montserrat" pitchFamily="2" charset="77"/>
            </a:endParaRPr>
          </a:p>
          <a:p>
            <a:endParaRPr lang="en-US" sz="1800" dirty="0">
              <a:latin typeface="Montserrat" pitchFamily="2" charset="77"/>
            </a:endParaRPr>
          </a:p>
          <a:p>
            <a:endParaRPr lang="en-US" sz="1800" dirty="0">
              <a:latin typeface="Montserrat" pitchFamily="2" charset="77"/>
            </a:endParaRPr>
          </a:p>
          <a:p>
            <a:br>
              <a:rPr lang="en-US" sz="1800" dirty="0">
                <a:latin typeface="Montserrat" pitchFamily="2" charset="77"/>
              </a:rPr>
            </a:br>
            <a:endParaRPr lang="en-US" sz="1800" dirty="0">
              <a:latin typeface="Montserra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0C764D2-EF3E-6D75-C18A-003AC680E6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1045639"/>
          </a:xfrm>
        </p:spPr>
        <p:txBody>
          <a:bodyPr>
            <a:normAutofit/>
          </a:bodyPr>
          <a:lstStyle/>
          <a:p>
            <a:r>
              <a:rPr lang="en-US" b="1" dirty="0"/>
              <a:t>Revenue Projections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E9DDBE-E5A8-02F2-39A0-86615E4F666A}"/>
              </a:ext>
            </a:extLst>
          </p:cNvPr>
          <p:cNvSpPr txBox="1">
            <a:spLocks/>
          </p:cNvSpPr>
          <p:nvPr/>
        </p:nvSpPr>
        <p:spPr>
          <a:xfrm>
            <a:off x="367990" y="1002701"/>
            <a:ext cx="10193993" cy="636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Tx/>
              <a:buNone/>
              <a:defRPr sz="2000" b="1" i="0" kern="1200">
                <a:solidFill>
                  <a:srgbClr val="311C6B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F35063-2CF7-BD12-F6E1-6F17DE452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342555"/>
              </p:ext>
            </p:extLst>
          </p:nvPr>
        </p:nvGraphicFramePr>
        <p:xfrm>
          <a:off x="242569" y="3181260"/>
          <a:ext cx="10515600" cy="19431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7526586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0303369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998834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Metric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Monthly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Annual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272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Licensed Players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40,000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40,000 avg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52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Gross Marketplace Revenue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$199,600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$2,395,200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809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BrightSign Platform Fee (30%)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$59,880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$718,560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661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Partner Revenue Share (70%)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$139,720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$1,676,640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841157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E192B3FE-59E1-DE19-D531-A3C137F67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569" y="2544620"/>
            <a:ext cx="3499676" cy="7030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47591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tserrat" pitchFamily="2" charset="77"/>
              </a:rPr>
              <a:t>Annual Revenue Projection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240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675204F-5846-92C9-D7A2-D10915D5E6E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0395" y="5192987"/>
            <a:ext cx="1951212" cy="421160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E195DAB-A94E-3F90-26DA-8C552E580F72}"/>
              </a:ext>
            </a:extLst>
          </p:cNvPr>
          <p:cNvCxnSpPr>
            <a:cxnSpLocks/>
          </p:cNvCxnSpPr>
          <p:nvPr/>
        </p:nvCxnSpPr>
        <p:spPr>
          <a:xfrm>
            <a:off x="8552786" y="3310537"/>
            <a:ext cx="3657600" cy="0"/>
          </a:xfrm>
          <a:prstGeom prst="straightConnector1">
            <a:avLst/>
          </a:prstGeom>
          <a:ln w="3175" cap="rnd">
            <a:solidFill>
              <a:schemeClr val="bg1"/>
            </a:solidFill>
            <a:prstDash val="solid"/>
            <a:headEnd type="oval"/>
            <a:tailEnd type="none"/>
          </a:ln>
          <a:effectLst>
            <a:glow rad="80698">
              <a:schemeClr val="bg1">
                <a:alpha val="2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2C1C0-7D3E-8ABE-D1DE-1DDBA297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Questions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CFC800-1E2F-BA24-69DC-8174E2595175}"/>
              </a:ext>
            </a:extLst>
          </p:cNvPr>
          <p:cNvCxnSpPr>
            <a:cxnSpLocks/>
          </p:cNvCxnSpPr>
          <p:nvPr/>
        </p:nvCxnSpPr>
        <p:spPr>
          <a:xfrm flipH="1">
            <a:off x="5686" y="3310537"/>
            <a:ext cx="3657600" cy="0"/>
          </a:xfrm>
          <a:prstGeom prst="straightConnector1">
            <a:avLst/>
          </a:prstGeom>
          <a:ln w="3175" cap="rnd">
            <a:solidFill>
              <a:schemeClr val="bg1"/>
            </a:solidFill>
            <a:prstDash val="solid"/>
            <a:headEnd type="oval"/>
            <a:tailEnd type="none"/>
          </a:ln>
          <a:effectLst>
            <a:glow rad="80698">
              <a:schemeClr val="bg1">
                <a:alpha val="2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20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301B6B"/>
      </a:dk1>
      <a:lt1>
        <a:srgbClr val="FFFFFF"/>
      </a:lt1>
      <a:dk2>
        <a:srgbClr val="701795"/>
      </a:dk2>
      <a:lt2>
        <a:srgbClr val="E4E1F0"/>
      </a:lt2>
      <a:accent1>
        <a:srgbClr val="301B6B"/>
      </a:accent1>
      <a:accent2>
        <a:srgbClr val="48C0FF"/>
      </a:accent2>
      <a:accent3>
        <a:srgbClr val="701795"/>
      </a:accent3>
      <a:accent4>
        <a:srgbClr val="C857A0"/>
      </a:accent4>
      <a:accent5>
        <a:srgbClr val="181818"/>
      </a:accent5>
      <a:accent6>
        <a:srgbClr val="FFFFF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863F8EF2AA424B9A1F2DE59FAA6CBF" ma:contentTypeVersion="4" ma:contentTypeDescription="Create a new document." ma:contentTypeScope="" ma:versionID="26f2d002d15ac38d247c2aa05b5211eb">
  <xsd:schema xmlns:xsd="http://www.w3.org/2001/XMLSchema" xmlns:xs="http://www.w3.org/2001/XMLSchema" xmlns:p="http://schemas.microsoft.com/office/2006/metadata/properties" xmlns:ns2="5ff23d65-ae61-4af3-8fd3-381781cd30ce" targetNamespace="http://schemas.microsoft.com/office/2006/metadata/properties" ma:root="true" ma:fieldsID="ce8a6b8ca11d49dd366b61b8100ac464" ns2:_="">
    <xsd:import namespace="5ff23d65-ae61-4af3-8fd3-381781cd30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f23d65-ae61-4af3-8fd3-381781cd30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934C19-6B1E-431A-8B76-D80AF9DA4351}">
  <ds:schemaRefs>
    <ds:schemaRef ds:uri="58d6a250-4fd6-4b9e-88fb-581b5a8f0d8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600db1c8-682e-4080-b135-8be16a1b8abf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5FCE311-C237-4F3E-8FBA-7D7D65461F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E844A0-5D4D-44E9-8D20-B774D02C93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f23d65-ae61-4af3-8fd3-381781cd30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6079</TotalTime>
  <Words>737</Words>
  <Application>Microsoft Macintosh PowerPoint</Application>
  <PresentationFormat>Widescreen</PresentationFormat>
  <Paragraphs>138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Andrea Bolf</dc:creator>
  <cp:lastModifiedBy>Greg Herlein</cp:lastModifiedBy>
  <cp:revision>7</cp:revision>
  <dcterms:created xsi:type="dcterms:W3CDTF">2023-12-05T21:15:33Z</dcterms:created>
  <dcterms:modified xsi:type="dcterms:W3CDTF">2025-10-18T19:19:44Z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0x01010050863F8EF2AA424B9A1F2DE59FAA6CBF</vt:lpwstr>
  </property>
  <property fmtid="{D5CDD505-2E9C-101B-9397-08002B2CF9AE}" pid="3" name="MediaServiceImageTags">
    <vt:lpwstr/>
  </property>
</Properties>
</file>